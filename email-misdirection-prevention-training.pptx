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67D9"/>
    <a:srgbClr val="B54708"/>
    <a:srgbClr val="EAF3FF"/>
    <a:srgbClr val="1024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9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-accent">
            <a:extLst>
              <a:ext uri="{FF2B5EF4-FFF2-40B4-BE49-F238E27FC236}">
                <a16:creationId xmlns:a16="http://schemas.microsoft.com/office/drawing/2014/main" id="{F85B40EB-33FD-4959-9098-E4CE2423A7A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66675" cy="723900"/>
          </a:xfrm>
          <a:prstGeom prst="rect">
            <a:avLst/>
          </a:prstGeom>
          <a:solidFill>
            <a:srgbClr val="FF0000"/>
          </a:solidFill>
          <a:ln w="0">
            <a:noFill/>
            <a:prstDash val="solid"/>
          </a:ln>
        </p:spPr>
        <p:txBody>
          <a:bodyPr/>
          <a:lstStyle/>
          <a:p>
            <a:endParaRPr dirty="0">
              <a:highlight>
                <a:srgbClr val="FF0000"/>
              </a:highligh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9DE05EB9-D6C3-4903-911E-74A0EE7BAA62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17" lnSpcReduction="10000"/>
          </a:bodyPr>
          <a:lstStyle/>
          <a:p>
            <a:pPr algn="l">
              <a:buNone/>
              <a:defRPr sz="12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に</a:t>
            </a:r>
            <a:r>
              <a:rPr lang="en-US" altLang="ja-JP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宛内容</a:t>
            </a:r>
            <a:r>
              <a:rPr sz="120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誤送信防止</a:t>
            </a:r>
            <a:endParaRPr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FC26128-D118-432C-BA05-A32A61B6D32B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3000" b="1" dirty="0" err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原因</a:t>
            </a:r>
            <a:r>
              <a:rPr sz="3000" b="1" dirty="0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①｜</a:t>
            </a:r>
            <a:r>
              <a:rPr sz="3000" b="1" dirty="0" err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RAのメールを</a:t>
            </a:r>
            <a:r>
              <a:rPr sz="3000" b="1" dirty="0" err="1">
                <a:highlight>
                  <a:srgbClr val="F79009"/>
                </a:highlight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選び直していない</a:t>
            </a:r>
            <a:endParaRPr sz="3000" b="1" dirty="0">
              <a:highlight>
                <a:srgbClr val="FF0000"/>
              </a:highlight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B988C75-690E-4F5E-9719-634A002B6D58}"/>
              </a:ext>
            </a:extLst>
          </p:cNvPr>
          <p:cNvSpPr>
            <a:spLocks noGrp="1"/>
          </p:cNvSpPr>
          <p:nvPr/>
        </p:nvSpPr>
        <p:spPr>
          <a:xfrm>
            <a:off x="723900" y="10668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75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RA宛ではないメールが管理画面に残る</a:t>
            </a:r>
            <a:r>
              <a:rPr sz="1275" b="0" dirty="0" err="1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ことがあるため、メール作成前に送りたい相手のメールを選び直す</a:t>
            </a:r>
            <a:endParaRPr sz="1275" b="0" dirty="0">
              <a:solidFill>
                <a:srgbClr val="5F6B7A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5" name="header-rule">
            <a:extLst>
              <a:ext uri="{FF2B5EF4-FFF2-40B4-BE49-F238E27FC236}">
                <a16:creationId xmlns:a16="http://schemas.microsoft.com/office/drawing/2014/main" id="{31708F7B-DC0D-4F87-BDF2-117A50071605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1163300" cy="14288"/>
          </a:xfrm>
          <a:prstGeom prst="rect">
            <a:avLst/>
          </a:prstGeom>
          <a:solidFill>
            <a:srgbClr val="C9D0D8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cause-title">
            <a:extLst>
              <a:ext uri="{FF2B5EF4-FFF2-40B4-BE49-F238E27FC236}">
                <a16:creationId xmlns:a16="http://schemas.microsoft.com/office/drawing/2014/main" id="{03EF6462-34A3-4C35-B80A-B935818F5AEE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■</a:t>
            </a:r>
            <a:r>
              <a:rPr sz="1800" b="1" dirty="0" err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どこで工程が抜けたのか</a:t>
            </a:r>
            <a:endParaRPr sz="1800" b="1" dirty="0">
              <a:solidFill>
                <a:srgbClr val="11182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7" name="cause-panel">
            <a:extLst>
              <a:ext uri="{FF2B5EF4-FFF2-40B4-BE49-F238E27FC236}">
                <a16:creationId xmlns:a16="http://schemas.microsoft.com/office/drawing/2014/main" id="{388077C4-6B35-454C-BB6D-FD5309FFA0D8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5715000" cy="19812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cause-panel-label">
            <a:extLst>
              <a:ext uri="{FF2B5EF4-FFF2-40B4-BE49-F238E27FC236}">
                <a16:creationId xmlns:a16="http://schemas.microsoft.com/office/drawing/2014/main" id="{70DDA892-E7C3-4E94-A16A-7D32A0CCD7AB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17" lnSpcReduction="10000"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(例)｜CSの完了報告を、RAへ送信する</a:t>
            </a:r>
          </a:p>
        </p:txBody>
      </p:sp>
      <p:sp>
        <p:nvSpPr>
          <p:cNvPr id="9" name="mixed-label">
            <a:extLst>
              <a:ext uri="{FF2B5EF4-FFF2-40B4-BE49-F238E27FC236}">
                <a16:creationId xmlns:a16="http://schemas.microsoft.com/office/drawing/2014/main" id="{B3EBAA8A-6C00-4F44-8D3C-9B3699338D39}"/>
              </a:ext>
            </a:extLst>
          </p:cNvPr>
          <p:cNvSpPr>
            <a:spLocks noGrp="1"/>
          </p:cNvSpPr>
          <p:nvPr/>
        </p:nvSpPr>
        <p:spPr>
          <a:xfrm>
            <a:off x="4343400" y="20383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634" lnSpcReduction="10000"/>
          </a:bodyPr>
          <a:lstStyle/>
          <a:p>
            <a:pPr algn="r">
              <a:buNone/>
              <a:defRPr sz="1200" b="1">
                <a:solidFill>
                  <a:srgbClr val="D92D20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RAメールの選択が必要</a:t>
            </a:r>
            <a:endParaRPr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11" name="search-strip-text">
            <a:extLst>
              <a:ext uri="{FF2B5EF4-FFF2-40B4-BE49-F238E27FC236}">
                <a16:creationId xmlns:a16="http://schemas.microsoft.com/office/drawing/2014/main" id="{2047CC24-A36C-4CD7-A6A5-18AC89AA1506}"/>
              </a:ext>
            </a:extLst>
          </p:cNvPr>
          <p:cNvSpPr>
            <a:spLocks noGrp="1"/>
          </p:cNvSpPr>
          <p:nvPr/>
        </p:nvSpPr>
        <p:spPr>
          <a:xfrm>
            <a:off x="2338693" y="2395538"/>
            <a:ext cx="206631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</a:t>
            </a: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からのメール内容を確認</a:t>
            </a:r>
          </a:p>
        </p:txBody>
      </p:sp>
      <p:sp>
        <p:nvSpPr>
          <p:cNvPr id="12" name="row-a">
            <a:extLst>
              <a:ext uri="{FF2B5EF4-FFF2-40B4-BE49-F238E27FC236}">
                <a16:creationId xmlns:a16="http://schemas.microsoft.com/office/drawing/2014/main" id="{E336E744-CDC1-4DE7-A5CE-8EDB9628F6BC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5295900" cy="400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a-chip">
            <a:extLst>
              <a:ext uri="{FF2B5EF4-FFF2-40B4-BE49-F238E27FC236}">
                <a16:creationId xmlns:a16="http://schemas.microsoft.com/office/drawing/2014/main" id="{7C13F0BA-0FA8-40F6-95DC-310644D6541F}"/>
              </a:ext>
            </a:extLst>
          </p:cNvPr>
          <p:cNvSpPr>
            <a:spLocks noGrp="1"/>
          </p:cNvSpPr>
          <p:nvPr/>
        </p:nvSpPr>
        <p:spPr>
          <a:xfrm>
            <a:off x="838200" y="2801984"/>
            <a:ext cx="266700" cy="266700"/>
          </a:xfrm>
          <a:prstGeom prst="ellipse">
            <a:avLst/>
          </a:prstGeom>
          <a:solidFill>
            <a:srgbClr val="1667D9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a-chip-text">
            <a:extLst>
              <a:ext uri="{FF2B5EF4-FFF2-40B4-BE49-F238E27FC236}">
                <a16:creationId xmlns:a16="http://schemas.microsoft.com/office/drawing/2014/main" id="{C7583F4F-512C-4AB6-BFD9-BF114C77FC9E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85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正</a:t>
            </a:r>
          </a:p>
        </p:txBody>
      </p:sp>
      <p:sp>
        <p:nvSpPr>
          <p:cNvPr id="15" name="row-a-text">
            <a:extLst>
              <a:ext uri="{FF2B5EF4-FFF2-40B4-BE49-F238E27FC236}">
                <a16:creationId xmlns:a16="http://schemas.microsoft.com/office/drawing/2014/main" id="{7D2CF3A1-629B-45EA-89D6-173015F87874}"/>
              </a:ext>
            </a:extLst>
          </p:cNvPr>
          <p:cNvSpPr>
            <a:spLocks noGrp="1"/>
          </p:cNvSpPr>
          <p:nvPr/>
        </p:nvSpPr>
        <p:spPr>
          <a:xfrm>
            <a:off x="1238250" y="2771775"/>
            <a:ext cx="3295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RA宛メールを選択　→　作成</a:t>
            </a:r>
          </a:p>
        </p:txBody>
      </p:sp>
      <p:sp>
        <p:nvSpPr>
          <p:cNvPr id="17" name="row-b">
            <a:extLst>
              <a:ext uri="{FF2B5EF4-FFF2-40B4-BE49-F238E27FC236}">
                <a16:creationId xmlns:a16="http://schemas.microsoft.com/office/drawing/2014/main" id="{5991322D-8C36-45A9-9220-B019AF453C3C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5295900" cy="400050"/>
          </a:xfrm>
          <a:prstGeom prst="rect">
            <a:avLst/>
          </a:prstGeom>
          <a:solidFill>
            <a:srgbClr val="FFF0EE"/>
          </a:solidFill>
          <a:ln w="19050">
            <a:solidFill>
              <a:srgbClr val="D92D20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b-chip">
            <a:extLst>
              <a:ext uri="{FF2B5EF4-FFF2-40B4-BE49-F238E27FC236}">
                <a16:creationId xmlns:a16="http://schemas.microsoft.com/office/drawing/2014/main" id="{F3E76824-31F6-4899-A64D-4D84E3CFC706}"/>
              </a:ext>
            </a:extLst>
          </p:cNvPr>
          <p:cNvSpPr>
            <a:spLocks noGrp="1"/>
          </p:cNvSpPr>
          <p:nvPr/>
        </p:nvSpPr>
        <p:spPr>
          <a:xfrm>
            <a:off x="838200" y="3273063"/>
            <a:ext cx="266700" cy="266700"/>
          </a:xfrm>
          <a:prstGeom prst="ellipse">
            <a:avLst/>
          </a:prstGeom>
          <a:solidFill>
            <a:srgbClr val="D92D20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b-chip-text">
            <a:extLst>
              <a:ext uri="{FF2B5EF4-FFF2-40B4-BE49-F238E27FC236}">
                <a16:creationId xmlns:a16="http://schemas.microsoft.com/office/drawing/2014/main" id="{97226993-4A51-4955-9C95-B9E0FEFC2586}"/>
              </a:ext>
            </a:extLst>
          </p:cNvPr>
          <p:cNvSpPr>
            <a:spLocks noGrp="1"/>
          </p:cNvSpPr>
          <p:nvPr/>
        </p:nvSpPr>
        <p:spPr>
          <a:xfrm>
            <a:off x="838200" y="32861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272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誤</a:t>
            </a:r>
          </a:p>
        </p:txBody>
      </p:sp>
      <p:sp>
        <p:nvSpPr>
          <p:cNvPr id="20" name="row-b-text">
            <a:extLst>
              <a:ext uri="{FF2B5EF4-FFF2-40B4-BE49-F238E27FC236}">
                <a16:creationId xmlns:a16="http://schemas.microsoft.com/office/drawing/2014/main" id="{C162F119-D02D-4651-AA74-E55D3C70065E}"/>
              </a:ext>
            </a:extLst>
          </p:cNvPr>
          <p:cNvSpPr>
            <a:spLocks noGrp="1"/>
          </p:cNvSpPr>
          <p:nvPr/>
        </p:nvSpPr>
        <p:spPr>
          <a:xfrm>
            <a:off x="1238249" y="3238500"/>
            <a:ext cx="338137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D92D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表示されているCSのメールにそのまま返信</a:t>
            </a:r>
          </a:p>
        </p:txBody>
      </p:sp>
      <p:sp>
        <p:nvSpPr>
          <p:cNvPr id="22" name="cause-result">
            <a:extLst>
              <a:ext uri="{FF2B5EF4-FFF2-40B4-BE49-F238E27FC236}">
                <a16:creationId xmlns:a16="http://schemas.microsoft.com/office/drawing/2014/main" id="{13C5F6CD-2B87-41E9-8A42-53799954B438}"/>
              </a:ext>
            </a:extLst>
          </p:cNvPr>
          <p:cNvSpPr>
            <a:spLocks noGrp="1"/>
          </p:cNvSpPr>
          <p:nvPr/>
        </p:nvSpPr>
        <p:spPr>
          <a:xfrm>
            <a:off x="723900" y="3655326"/>
            <a:ext cx="529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500" lnSpcReduction="20000"/>
          </a:bodyPr>
          <a:lstStyle/>
          <a:p>
            <a:pPr algn="ctr">
              <a:buNone/>
              <a:defRPr sz="1200" b="1">
                <a:solidFill>
                  <a:srgbClr val="D92D20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CSからの完了報告メールにそのまま返信すると</a:t>
            </a:r>
            <a:r>
              <a:rPr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、【</a:t>
            </a:r>
            <a:r>
              <a:rPr sz="120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既読</a:t>
            </a:r>
            <a:r>
              <a:rPr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】→【</a:t>
            </a:r>
            <a:r>
              <a:rPr sz="120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対応漏れ】のリスク</a:t>
            </a:r>
            <a:r>
              <a:rPr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！！</a:t>
            </a:r>
          </a:p>
        </p:txBody>
      </p:sp>
      <p:sp>
        <p:nvSpPr>
          <p:cNvPr id="23" name="filter-panel">
            <a:extLst>
              <a:ext uri="{FF2B5EF4-FFF2-40B4-BE49-F238E27FC236}">
                <a16:creationId xmlns:a16="http://schemas.microsoft.com/office/drawing/2014/main" id="{8891260D-3725-4049-AB63-174CA8A99CF5}"/>
              </a:ext>
            </a:extLst>
          </p:cNvPr>
          <p:cNvSpPr>
            <a:spLocks noGrp="1"/>
          </p:cNvSpPr>
          <p:nvPr/>
        </p:nvSpPr>
        <p:spPr>
          <a:xfrm>
            <a:off x="514350" y="4076700"/>
            <a:ext cx="5715000" cy="1452562"/>
          </a:xfrm>
          <a:prstGeom prst="rect">
            <a:avLst/>
          </a:prstGeom>
          <a:solidFill>
            <a:srgbClr val="FFF0EE"/>
          </a:solidFill>
          <a:ln w="19050">
            <a:solidFill>
              <a:srgbClr val="D92D20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filter-title">
            <a:extLst>
              <a:ext uri="{FF2B5EF4-FFF2-40B4-BE49-F238E27FC236}">
                <a16:creationId xmlns:a16="http://schemas.microsoft.com/office/drawing/2014/main" id="{3634265E-A520-4E42-89A5-CCF81D249384}"/>
              </a:ext>
            </a:extLst>
          </p:cNvPr>
          <p:cNvSpPr>
            <a:spLocks noGrp="1"/>
          </p:cNvSpPr>
          <p:nvPr/>
        </p:nvSpPr>
        <p:spPr>
          <a:xfrm>
            <a:off x="723900" y="41624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452" lnSpcReduction="20000"/>
          </a:bodyPr>
          <a:lstStyle/>
          <a:p>
            <a:pPr algn="l">
              <a:buNone/>
              <a:defRPr sz="1575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75" b="1" dirty="0" err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誤った流れ</a:t>
            </a:r>
            <a:endParaRPr sz="1575" b="1" dirty="0">
              <a:solidFill>
                <a:srgbClr val="D92D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25" name="filter-note">
            <a:extLst>
              <a:ext uri="{FF2B5EF4-FFF2-40B4-BE49-F238E27FC236}">
                <a16:creationId xmlns:a16="http://schemas.microsoft.com/office/drawing/2014/main" id="{DC132762-09AA-411F-935F-BE3F44C2EB3D}"/>
              </a:ext>
            </a:extLst>
          </p:cNvPr>
          <p:cNvSpPr>
            <a:spLocks noGrp="1"/>
          </p:cNvSpPr>
          <p:nvPr/>
        </p:nvSpPr>
        <p:spPr>
          <a:xfrm>
            <a:off x="723900" y="44481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708" lnSpcReduction="20000"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CSのメールを返信元にしたまま、RA宛として作成</a:t>
            </a:r>
          </a:p>
        </p:txBody>
      </p:sp>
      <p:sp>
        <p:nvSpPr>
          <p:cNvPr id="26" name="sender-label">
            <a:extLst>
              <a:ext uri="{FF2B5EF4-FFF2-40B4-BE49-F238E27FC236}">
                <a16:creationId xmlns:a16="http://schemas.microsoft.com/office/drawing/2014/main" id="{77E92311-36A0-441B-91D9-653AB95142B3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2083" lnSpcReduction="20000"/>
          </a:bodyPr>
          <a:lstStyle/>
          <a:p>
            <a:pPr algn="l">
              <a:buNone/>
              <a:defRPr sz="1200" b="1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内容確認</a:t>
            </a:r>
          </a:p>
        </p:txBody>
      </p:sp>
      <p:sp>
        <p:nvSpPr>
          <p:cNvPr id="27" name="sender-input">
            <a:extLst>
              <a:ext uri="{FF2B5EF4-FFF2-40B4-BE49-F238E27FC236}">
                <a16:creationId xmlns:a16="http://schemas.microsoft.com/office/drawing/2014/main" id="{9010B0B2-BDF2-421D-A046-68BC37874A77}"/>
              </a:ext>
            </a:extLst>
          </p:cNvPr>
          <p:cNvSpPr>
            <a:spLocks noGrp="1"/>
          </p:cNvSpPr>
          <p:nvPr/>
        </p:nvSpPr>
        <p:spPr>
          <a:xfrm>
            <a:off x="723900" y="4962525"/>
            <a:ext cx="1809750" cy="428625"/>
          </a:xfrm>
          <a:prstGeom prst="rect">
            <a:avLst/>
          </a:prstGeom>
          <a:solidFill>
            <a:srgbClr val="FFFFFF"/>
          </a:solidFill>
          <a:ln w="14288">
            <a:solidFill>
              <a:srgbClr val="D92D20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sender-domain">
            <a:extLst>
              <a:ext uri="{FF2B5EF4-FFF2-40B4-BE49-F238E27FC236}">
                <a16:creationId xmlns:a16="http://schemas.microsoft.com/office/drawing/2014/main" id="{F6AA7E6F-B2B1-4458-8288-ADFC06882C86}"/>
              </a:ext>
            </a:extLst>
          </p:cNvPr>
          <p:cNvSpPr>
            <a:spLocks noGrp="1"/>
          </p:cNvSpPr>
          <p:nvPr/>
        </p:nvSpPr>
        <p:spPr>
          <a:xfrm>
            <a:off x="876300" y="5005251"/>
            <a:ext cx="1504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 lnSpcReduction="10000"/>
          </a:bodyPr>
          <a:lstStyle/>
          <a:p>
            <a:pPr algn="l">
              <a:buNone/>
              <a:defRPr sz="18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b="1" dirty="0" err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CSから</a:t>
            </a:r>
            <a:r>
              <a:rPr sz="1800" b="1" dirty="0" err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の内容</a:t>
            </a:r>
            <a:endParaRPr sz="1800" b="1" dirty="0">
              <a:solidFill>
                <a:srgbClr val="D92D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29" name="recipient-label">
            <a:extLst>
              <a:ext uri="{FF2B5EF4-FFF2-40B4-BE49-F238E27FC236}">
                <a16:creationId xmlns:a16="http://schemas.microsoft.com/office/drawing/2014/main" id="{8F2BCEFB-5AD2-4AE5-8C8D-8B22A51A4461}"/>
              </a:ext>
            </a:extLst>
          </p:cNvPr>
          <p:cNvSpPr>
            <a:spLocks noGrp="1"/>
          </p:cNvSpPr>
          <p:nvPr/>
        </p:nvSpPr>
        <p:spPr>
          <a:xfrm>
            <a:off x="2724150" y="47244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2083" lnSpcReduction="20000"/>
          </a:bodyPr>
          <a:lstStyle/>
          <a:p>
            <a:pPr algn="l">
              <a:buNone/>
              <a:defRPr sz="1200" b="1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返信元</a:t>
            </a:r>
          </a:p>
        </p:txBody>
      </p:sp>
      <p:sp>
        <p:nvSpPr>
          <p:cNvPr id="30" name="recipient-input">
            <a:extLst>
              <a:ext uri="{FF2B5EF4-FFF2-40B4-BE49-F238E27FC236}">
                <a16:creationId xmlns:a16="http://schemas.microsoft.com/office/drawing/2014/main" id="{8ADF38DF-4657-4132-AFAF-BF2CB6A90A72}"/>
              </a:ext>
            </a:extLst>
          </p:cNvPr>
          <p:cNvSpPr>
            <a:spLocks noGrp="1"/>
          </p:cNvSpPr>
          <p:nvPr/>
        </p:nvSpPr>
        <p:spPr>
          <a:xfrm>
            <a:off x="2724150" y="4962525"/>
            <a:ext cx="1809750" cy="428625"/>
          </a:xfrm>
          <a:prstGeom prst="rect">
            <a:avLst/>
          </a:prstGeom>
          <a:solidFill>
            <a:srgbClr val="FFFFFF"/>
          </a:solidFill>
          <a:ln w="14288">
            <a:solidFill>
              <a:srgbClr val="D92D20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recipient-domain">
            <a:extLst>
              <a:ext uri="{FF2B5EF4-FFF2-40B4-BE49-F238E27FC236}">
                <a16:creationId xmlns:a16="http://schemas.microsoft.com/office/drawing/2014/main" id="{46BCA4BE-2F78-4E50-A0A9-2DBFDD4CA9F6}"/>
              </a:ext>
            </a:extLst>
          </p:cNvPr>
          <p:cNvSpPr>
            <a:spLocks noGrp="1"/>
          </p:cNvSpPr>
          <p:nvPr/>
        </p:nvSpPr>
        <p:spPr>
          <a:xfrm>
            <a:off x="2862262" y="4990964"/>
            <a:ext cx="15906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8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 dirty="0" err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CSからのメール</a:t>
            </a:r>
            <a:endParaRPr sz="1500" b="1" dirty="0">
              <a:solidFill>
                <a:srgbClr val="D92D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32" name="filter-arrow">
            <a:extLst>
              <a:ext uri="{FF2B5EF4-FFF2-40B4-BE49-F238E27FC236}">
                <a16:creationId xmlns:a16="http://schemas.microsoft.com/office/drawing/2014/main" id="{E447261A-BC0A-4994-A0BA-F28D6165F511}"/>
              </a:ext>
            </a:extLst>
          </p:cNvPr>
          <p:cNvSpPr>
            <a:spLocks noGrp="1"/>
          </p:cNvSpPr>
          <p:nvPr/>
        </p:nvSpPr>
        <p:spPr>
          <a:xfrm>
            <a:off x="4593908" y="4987834"/>
            <a:ext cx="42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466"/>
          </a:bodyPr>
          <a:lstStyle/>
          <a:p>
            <a:pPr algn="ctr">
              <a:buNone/>
              <a:defRPr sz="21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2100" b="1" dirty="0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→</a:t>
            </a:r>
          </a:p>
        </p:txBody>
      </p:sp>
      <p:sp>
        <p:nvSpPr>
          <p:cNvPr id="33" name="filter-result">
            <a:extLst>
              <a:ext uri="{FF2B5EF4-FFF2-40B4-BE49-F238E27FC236}">
                <a16:creationId xmlns:a16="http://schemas.microsoft.com/office/drawing/2014/main" id="{9FA92BF0-6EC1-4135-BBB0-13990C5BF22E}"/>
              </a:ext>
            </a:extLst>
          </p:cNvPr>
          <p:cNvSpPr>
            <a:spLocks noGrp="1"/>
          </p:cNvSpPr>
          <p:nvPr/>
        </p:nvSpPr>
        <p:spPr>
          <a:xfrm>
            <a:off x="4933949" y="4975845"/>
            <a:ext cx="1265514" cy="449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 dirty="0" err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RA宛で作成</a:t>
            </a:r>
            <a:endParaRPr sz="1500" b="1" dirty="0">
              <a:solidFill>
                <a:srgbClr val="D92D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35" name="flow-title">
            <a:extLst>
              <a:ext uri="{FF2B5EF4-FFF2-40B4-BE49-F238E27FC236}">
                <a16:creationId xmlns:a16="http://schemas.microsoft.com/office/drawing/2014/main" id="{F9E2C654-B3F5-4AC3-9287-5D41C15C684B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b="1" dirty="0"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■</a:t>
            </a:r>
            <a:r>
              <a:rPr sz="1800" b="1" dirty="0" err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本来行うべきフロ</a:t>
            </a:r>
            <a:r>
              <a:rPr sz="1800" b="1" dirty="0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ー</a:t>
            </a:r>
          </a:p>
        </p:txBody>
      </p:sp>
      <p:cxnSp>
        <p:nvCxnSpPr>
          <p:cNvPr id="445" name="step-connector"/>
          <p:cNvCxnSpPr/>
          <p:nvPr/>
        </p:nvCxnSpPr>
        <p:spPr>
          <a:xfrm>
            <a:off x="6896100" y="2133600"/>
            <a:ext cx="0" cy="3124200"/>
          </a:xfrm>
          <a:prstGeom prst="straightConnector1">
            <a:avLst/>
          </a:prstGeom>
          <a:ln w="19050">
            <a:solidFill>
              <a:srgbClr val="C9D0D8"/>
            </a:solidFill>
            <a:prstDash val="solid"/>
          </a:ln>
        </p:spPr>
      </p:cxnSp>
      <p:sp>
        <p:nvSpPr>
          <p:cNvPr id="37" name="step-one-highlight">
            <a:extLst>
              <a:ext uri="{FF2B5EF4-FFF2-40B4-BE49-F238E27FC236}">
                <a16:creationId xmlns:a16="http://schemas.microsoft.com/office/drawing/2014/main" id="{A92179E5-FE2E-44FD-B95E-A6C96E9B9338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5086350" cy="81915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tep-1-circle">
            <a:extLst>
              <a:ext uri="{FF2B5EF4-FFF2-40B4-BE49-F238E27FC236}">
                <a16:creationId xmlns:a16="http://schemas.microsoft.com/office/drawing/2014/main" id="{2CB61160-D21A-4349-B223-BC8B599B5BFB}"/>
              </a:ext>
            </a:extLst>
          </p:cNvPr>
          <p:cNvSpPr>
            <a:spLocks noGrp="1"/>
          </p:cNvSpPr>
          <p:nvPr/>
        </p:nvSpPr>
        <p:spPr>
          <a:xfrm>
            <a:off x="6686550" y="2019300"/>
            <a:ext cx="419100" cy="419100"/>
          </a:xfrm>
          <a:prstGeom prst="ellipse">
            <a:avLst/>
          </a:prstGeom>
          <a:solidFill>
            <a:srgbClr val="1667D9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step-1-number">
            <a:extLst>
              <a:ext uri="{FF2B5EF4-FFF2-40B4-BE49-F238E27FC236}">
                <a16:creationId xmlns:a16="http://schemas.microsoft.com/office/drawing/2014/main" id="{6CC44CD1-A172-4696-AA75-414FC4B101A5}"/>
              </a:ext>
            </a:extLst>
          </p:cNvPr>
          <p:cNvSpPr>
            <a:spLocks noGrp="1"/>
          </p:cNvSpPr>
          <p:nvPr/>
        </p:nvSpPr>
        <p:spPr>
          <a:xfrm>
            <a:off x="6686550" y="2019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1</a:t>
            </a:r>
          </a:p>
        </p:txBody>
      </p:sp>
      <p:sp>
        <p:nvSpPr>
          <p:cNvPr id="40" name="step-1-title">
            <a:extLst>
              <a:ext uri="{FF2B5EF4-FFF2-40B4-BE49-F238E27FC236}">
                <a16:creationId xmlns:a16="http://schemas.microsoft.com/office/drawing/2014/main" id="{BF1E64D0-153C-4A7F-ACAE-70F7D26D4494}"/>
              </a:ext>
            </a:extLst>
          </p:cNvPr>
          <p:cNvSpPr>
            <a:spLocks noGrp="1"/>
          </p:cNvSpPr>
          <p:nvPr/>
        </p:nvSpPr>
        <p:spPr>
          <a:xfrm>
            <a:off x="7296150" y="20002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 dirty="0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</a:t>
            </a:r>
            <a:r>
              <a:rPr lang="ja-JP" altLang="en-US" sz="1500" b="1" dirty="0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の</a:t>
            </a:r>
            <a:r>
              <a:rPr sz="1500" b="1" dirty="0" err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メールを選択</a:t>
            </a:r>
            <a:endParaRPr sz="1500" b="1" dirty="0">
              <a:solidFill>
                <a:srgbClr val="1667D9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41" name="step-1-body">
            <a:extLst>
              <a:ext uri="{FF2B5EF4-FFF2-40B4-BE49-F238E27FC236}">
                <a16:creationId xmlns:a16="http://schemas.microsoft.com/office/drawing/2014/main" id="{4B64A8DD-C8A6-4E90-9C77-EDBB74D38146}"/>
              </a:ext>
            </a:extLst>
          </p:cNvPr>
          <p:cNvSpPr>
            <a:spLocks noGrp="1"/>
          </p:cNvSpPr>
          <p:nvPr/>
        </p:nvSpPr>
        <p:spPr>
          <a:xfrm>
            <a:off x="7296150" y="230505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309"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作成前に、CSのメッセージ検索画面でRA宛メールを選び直す</a:t>
            </a:r>
            <a:endParaRPr sz="1200" b="0">
              <a:solidFill>
                <a:srgbClr val="5F6B7A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42" name="step-2-circle">
            <a:extLst>
              <a:ext uri="{FF2B5EF4-FFF2-40B4-BE49-F238E27FC236}">
                <a16:creationId xmlns:a16="http://schemas.microsoft.com/office/drawing/2014/main" id="{42DE0D8C-FBD2-4AF7-9A07-EE4376870FF1}"/>
              </a:ext>
            </a:extLst>
          </p:cNvPr>
          <p:cNvSpPr>
            <a:spLocks noGrp="1"/>
          </p:cNvSpPr>
          <p:nvPr/>
        </p:nvSpPr>
        <p:spPr>
          <a:xfrm>
            <a:off x="6686550" y="291465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tep-2-number">
            <a:extLst>
              <a:ext uri="{FF2B5EF4-FFF2-40B4-BE49-F238E27FC236}">
                <a16:creationId xmlns:a16="http://schemas.microsoft.com/office/drawing/2014/main" id="{C57932D8-1782-4668-B3B5-A0F3B64288A6}"/>
              </a:ext>
            </a:extLst>
          </p:cNvPr>
          <p:cNvSpPr>
            <a:spLocks noGrp="1"/>
          </p:cNvSpPr>
          <p:nvPr/>
        </p:nvSpPr>
        <p:spPr>
          <a:xfrm>
            <a:off x="6686550" y="29146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2</a:t>
            </a:r>
          </a:p>
        </p:txBody>
      </p:sp>
      <p:sp>
        <p:nvSpPr>
          <p:cNvPr id="44" name="step-2-title">
            <a:extLst>
              <a:ext uri="{FF2B5EF4-FFF2-40B4-BE49-F238E27FC236}">
                <a16:creationId xmlns:a16="http://schemas.microsoft.com/office/drawing/2014/main" id="{5D4CE018-AD68-4A13-A4AB-65D2028BBF1C}"/>
              </a:ext>
            </a:extLst>
          </p:cNvPr>
          <p:cNvSpPr>
            <a:spLocks noGrp="1"/>
          </p:cNvSpPr>
          <p:nvPr/>
        </p:nvSpPr>
        <p:spPr>
          <a:xfrm>
            <a:off x="7296150" y="289560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メッセージ管理画面でRA宛か確認</a:t>
            </a:r>
          </a:p>
        </p:txBody>
      </p:sp>
      <p:sp>
        <p:nvSpPr>
          <p:cNvPr id="45" name="step-2-body">
            <a:extLst>
              <a:ext uri="{FF2B5EF4-FFF2-40B4-BE49-F238E27FC236}">
                <a16:creationId xmlns:a16="http://schemas.microsoft.com/office/drawing/2014/main" id="{EEB059CA-B12D-4B0F-97BF-ACBD45472857}"/>
              </a:ext>
            </a:extLst>
          </p:cNvPr>
          <p:cNvSpPr>
            <a:spLocks noGrp="1"/>
          </p:cNvSpPr>
          <p:nvPr/>
        </p:nvSpPr>
        <p:spPr>
          <a:xfrm>
            <a:off x="7296150" y="320040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選択したRA宛メールが表示されているか確認</a:t>
            </a:r>
          </a:p>
        </p:txBody>
      </p:sp>
      <p:sp>
        <p:nvSpPr>
          <p:cNvPr id="46" name="step-3-circle">
            <a:extLst>
              <a:ext uri="{FF2B5EF4-FFF2-40B4-BE49-F238E27FC236}">
                <a16:creationId xmlns:a16="http://schemas.microsoft.com/office/drawing/2014/main" id="{151256C2-9323-4FD2-BD38-5167A17CC4C5}"/>
              </a:ext>
            </a:extLst>
          </p:cNvPr>
          <p:cNvSpPr>
            <a:spLocks noGrp="1"/>
          </p:cNvSpPr>
          <p:nvPr/>
        </p:nvSpPr>
        <p:spPr>
          <a:xfrm>
            <a:off x="6686550" y="38100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step-3-number">
            <a:extLst>
              <a:ext uri="{FF2B5EF4-FFF2-40B4-BE49-F238E27FC236}">
                <a16:creationId xmlns:a16="http://schemas.microsoft.com/office/drawing/2014/main" id="{4BCED38E-8FE4-48DB-8DCD-F6A5B474B544}"/>
              </a:ext>
            </a:extLst>
          </p:cNvPr>
          <p:cNvSpPr>
            <a:spLocks noGrp="1"/>
          </p:cNvSpPr>
          <p:nvPr/>
        </p:nvSpPr>
        <p:spPr>
          <a:xfrm>
            <a:off x="6686550" y="38100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3</a:t>
            </a:r>
          </a:p>
        </p:txBody>
      </p:sp>
      <p:sp>
        <p:nvSpPr>
          <p:cNvPr id="48" name="step-3-title">
            <a:extLst>
              <a:ext uri="{FF2B5EF4-FFF2-40B4-BE49-F238E27FC236}">
                <a16:creationId xmlns:a16="http://schemas.microsoft.com/office/drawing/2014/main" id="{AE916B8D-4377-4DC4-8965-EA1808A4D24C}"/>
              </a:ext>
            </a:extLst>
          </p:cNvPr>
          <p:cNvSpPr>
            <a:spLocks noGrp="1"/>
          </p:cNvSpPr>
          <p:nvPr/>
        </p:nvSpPr>
        <p:spPr>
          <a:xfrm>
            <a:off x="7296150" y="37909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返信／再送でメールを作成</a:t>
            </a:r>
          </a:p>
        </p:txBody>
      </p:sp>
      <p:sp>
        <p:nvSpPr>
          <p:cNvPr id="49" name="step-3-body">
            <a:extLst>
              <a:ext uri="{FF2B5EF4-FFF2-40B4-BE49-F238E27FC236}">
                <a16:creationId xmlns:a16="http://schemas.microsoft.com/office/drawing/2014/main" id="{140FD274-268F-4BAF-A733-4ECB3192EB49}"/>
              </a:ext>
            </a:extLst>
          </p:cNvPr>
          <p:cNvSpPr>
            <a:spLocks noGrp="1"/>
          </p:cNvSpPr>
          <p:nvPr/>
        </p:nvSpPr>
        <p:spPr>
          <a:xfrm>
            <a:off x="7296150" y="409575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RA宛であることを確認してからボタンを押す</a:t>
            </a:r>
          </a:p>
        </p:txBody>
      </p:sp>
      <p:sp>
        <p:nvSpPr>
          <p:cNvPr id="50" name="step-4-circle">
            <a:extLst>
              <a:ext uri="{FF2B5EF4-FFF2-40B4-BE49-F238E27FC236}">
                <a16:creationId xmlns:a16="http://schemas.microsoft.com/office/drawing/2014/main" id="{1518CF6D-1DD3-440B-B999-ECD3AF3DA976}"/>
              </a:ext>
            </a:extLst>
          </p:cNvPr>
          <p:cNvSpPr>
            <a:spLocks noGrp="1"/>
          </p:cNvSpPr>
          <p:nvPr/>
        </p:nvSpPr>
        <p:spPr>
          <a:xfrm>
            <a:off x="6686550" y="470535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tep-4-number">
            <a:extLst>
              <a:ext uri="{FF2B5EF4-FFF2-40B4-BE49-F238E27FC236}">
                <a16:creationId xmlns:a16="http://schemas.microsoft.com/office/drawing/2014/main" id="{84642F75-CEF0-4D9A-844E-86A2CB02B766}"/>
              </a:ext>
            </a:extLst>
          </p:cNvPr>
          <p:cNvSpPr>
            <a:spLocks noGrp="1"/>
          </p:cNvSpPr>
          <p:nvPr/>
        </p:nvSpPr>
        <p:spPr>
          <a:xfrm>
            <a:off x="6686550" y="4705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4</a:t>
            </a:r>
          </a:p>
        </p:txBody>
      </p:sp>
      <p:sp>
        <p:nvSpPr>
          <p:cNvPr id="52" name="step-4-title">
            <a:extLst>
              <a:ext uri="{FF2B5EF4-FFF2-40B4-BE49-F238E27FC236}">
                <a16:creationId xmlns:a16="http://schemas.microsoft.com/office/drawing/2014/main" id="{AEF6B708-5513-42A5-B561-AFF18923CE55}"/>
              </a:ext>
            </a:extLst>
          </p:cNvPr>
          <p:cNvSpPr>
            <a:spLocks noGrp="1"/>
          </p:cNvSpPr>
          <p:nvPr/>
        </p:nvSpPr>
        <p:spPr>
          <a:xfrm>
            <a:off x="7296150" y="468630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送信前チェック後に送付</a:t>
            </a:r>
          </a:p>
        </p:txBody>
      </p:sp>
      <p:sp>
        <p:nvSpPr>
          <p:cNvPr id="53" name="step-4-body">
            <a:extLst>
              <a:ext uri="{FF2B5EF4-FFF2-40B4-BE49-F238E27FC236}">
                <a16:creationId xmlns:a16="http://schemas.microsoft.com/office/drawing/2014/main" id="{12D508F0-7FF3-4DD7-98D0-976C46CD767D}"/>
              </a:ext>
            </a:extLst>
          </p:cNvPr>
          <p:cNvSpPr>
            <a:spLocks noGrp="1"/>
          </p:cNvSpPr>
          <p:nvPr/>
        </p:nvSpPr>
        <p:spPr>
          <a:xfrm>
            <a:off x="7296150" y="499110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宛先・本文・添付を確認する</a:t>
            </a:r>
          </a:p>
        </p:txBody>
      </p:sp>
      <p:sp>
        <p:nvSpPr>
          <p:cNvPr id="54" name="bottom-banner">
            <a:extLst>
              <a:ext uri="{FF2B5EF4-FFF2-40B4-BE49-F238E27FC236}">
                <a16:creationId xmlns:a16="http://schemas.microsoft.com/office/drawing/2014/main" id="{91F09FEA-62EC-4AE0-B655-59C0F1ABE635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1163300" cy="6858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banner-key">
            <a:extLst>
              <a:ext uri="{FF2B5EF4-FFF2-40B4-BE49-F238E27FC236}">
                <a16:creationId xmlns:a16="http://schemas.microsoft.com/office/drawing/2014/main" id="{BB023A75-809D-42D5-A2BC-2D69C4E830EC}"/>
              </a:ext>
            </a:extLst>
          </p:cNvPr>
          <p:cNvSpPr>
            <a:spLocks noGrp="1"/>
          </p:cNvSpPr>
          <p:nvPr/>
        </p:nvSpPr>
        <p:spPr>
          <a:xfrm>
            <a:off x="778603" y="6062662"/>
            <a:ext cx="31432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必須動作</a:t>
            </a:r>
            <a:endParaRPr sz="195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56" name="banner-divider">
            <a:extLst>
              <a:ext uri="{FF2B5EF4-FFF2-40B4-BE49-F238E27FC236}">
                <a16:creationId xmlns:a16="http://schemas.microsoft.com/office/drawing/2014/main" id="{C5E6BB9B-9675-4E8C-982E-9072045D84AF}"/>
              </a:ext>
            </a:extLst>
          </p:cNvPr>
          <p:cNvSpPr>
            <a:spLocks noGrp="1"/>
          </p:cNvSpPr>
          <p:nvPr/>
        </p:nvSpPr>
        <p:spPr>
          <a:xfrm>
            <a:off x="4095750" y="6067425"/>
            <a:ext cx="19050" cy="381000"/>
          </a:xfrm>
          <a:prstGeom prst="rect">
            <a:avLst/>
          </a:prstGeom>
          <a:solidFill>
            <a:srgbClr val="FF0000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banner-rule">
            <a:extLst>
              <a:ext uri="{FF2B5EF4-FFF2-40B4-BE49-F238E27FC236}">
                <a16:creationId xmlns:a16="http://schemas.microsoft.com/office/drawing/2014/main" id="{449A509B-6D1D-4083-9AC6-1BEABC4BA7D2}"/>
              </a:ext>
            </a:extLst>
          </p:cNvPr>
          <p:cNvSpPr>
            <a:spLocks noGrp="1"/>
          </p:cNvSpPr>
          <p:nvPr/>
        </p:nvSpPr>
        <p:spPr>
          <a:xfrm>
            <a:off x="4288697" y="6076950"/>
            <a:ext cx="687460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メール作成前に、必ずRA宛メールを選び直す</a:t>
            </a:r>
            <a:endParaRPr sz="1425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670805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-accent">
            <a:extLst>
              <a:ext uri="{FF2B5EF4-FFF2-40B4-BE49-F238E27FC236}">
                <a16:creationId xmlns:a16="http://schemas.microsoft.com/office/drawing/2014/main" id="{F85B40EB-33FD-4959-9098-E4CE2423A7A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66675" cy="723900"/>
          </a:xfrm>
          <a:prstGeom prst="rect">
            <a:avLst/>
          </a:prstGeom>
          <a:solidFill>
            <a:srgbClr val="FF0000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9DE05EB9-D6C3-4903-911E-74A0EE7BAA62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17" lnSpcReduction="10000"/>
          </a:bodyPr>
          <a:lstStyle/>
          <a:p>
            <a:pPr>
              <a:defRPr sz="12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に</a:t>
            </a:r>
            <a:r>
              <a:rPr lang="en-US" altLang="ja-JP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宛内容誤送信防止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FC26128-D118-432C-BA05-A32A61B6D32B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原因②｜RA宛メールを</a:t>
            </a:r>
            <a:r>
              <a:rPr sz="3000" b="1">
                <a:solidFill>
                  <a:srgbClr val="111827"/>
                </a:solidFill>
                <a:highlight>
                  <a:srgbClr val="F79009"/>
                </a:highlight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選び間違えている</a:t>
            </a:r>
            <a:endParaRPr sz="3000" b="1">
              <a:solidFill>
                <a:srgbClr val="111827"/>
              </a:solidFill>
              <a:highlight>
                <a:srgbClr val="FF0000"/>
              </a:highlight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BB988C75-690E-4F5E-9719-634A002B6D58}"/>
              </a:ext>
            </a:extLst>
          </p:cNvPr>
          <p:cNvSpPr>
            <a:spLocks noGrp="1"/>
          </p:cNvSpPr>
          <p:nvPr/>
        </p:nvSpPr>
        <p:spPr>
          <a:xfrm>
            <a:off x="723900" y="10668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75" dirty="0" err="1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RA／CSのメールが混在する検索結果から、</a:t>
            </a:r>
            <a:r>
              <a:rPr sz="1275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CSのメールを誤って選択</a:t>
            </a:r>
            <a:r>
              <a:rPr sz="1275" dirty="0" err="1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し、そのまま作成している</a:t>
            </a:r>
            <a:endParaRPr sz="1275" b="0" dirty="0">
              <a:solidFill>
                <a:srgbClr val="5F6B7A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5" name="header-rule">
            <a:extLst>
              <a:ext uri="{FF2B5EF4-FFF2-40B4-BE49-F238E27FC236}">
                <a16:creationId xmlns:a16="http://schemas.microsoft.com/office/drawing/2014/main" id="{31708F7B-DC0D-4F87-BDF2-117A50071605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1163300" cy="14288"/>
          </a:xfrm>
          <a:prstGeom prst="rect">
            <a:avLst/>
          </a:prstGeom>
          <a:solidFill>
            <a:srgbClr val="C9D0D8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cause-title">
            <a:extLst>
              <a:ext uri="{FF2B5EF4-FFF2-40B4-BE49-F238E27FC236}">
                <a16:creationId xmlns:a16="http://schemas.microsoft.com/office/drawing/2014/main" id="{03EF6462-34A3-4C35-B80A-B935818F5AEE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■</a:t>
            </a:r>
            <a:r>
              <a:rPr sz="1800" b="1" dirty="0" err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選択ミスが起きる場面</a:t>
            </a:r>
            <a:endParaRPr sz="1800" b="1" dirty="0">
              <a:solidFill>
                <a:srgbClr val="11182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7" name="cause-panel">
            <a:extLst>
              <a:ext uri="{FF2B5EF4-FFF2-40B4-BE49-F238E27FC236}">
                <a16:creationId xmlns:a16="http://schemas.microsoft.com/office/drawing/2014/main" id="{388077C4-6B35-454C-BB6D-FD5309FFA0D8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5715000" cy="19812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cause-panel-label">
            <a:extLst>
              <a:ext uri="{FF2B5EF4-FFF2-40B4-BE49-F238E27FC236}">
                <a16:creationId xmlns:a16="http://schemas.microsoft.com/office/drawing/2014/main" id="{70DDA892-E7C3-4E94-A16A-7D32A0CCD7AB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17" lnSpcReduction="10000"/>
          </a:bodyPr>
          <a:lstStyle/>
          <a:p>
            <a:pPr>
              <a:buNone/>
              <a:defRPr sz="12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(例)｜CSの完了報告を、RAへ送信する</a:t>
            </a:r>
          </a:p>
        </p:txBody>
      </p:sp>
      <p:sp>
        <p:nvSpPr>
          <p:cNvPr id="9" name="mixed-label">
            <a:extLst>
              <a:ext uri="{FF2B5EF4-FFF2-40B4-BE49-F238E27FC236}">
                <a16:creationId xmlns:a16="http://schemas.microsoft.com/office/drawing/2014/main" id="{B3EBAA8A-6C00-4F44-8D3C-9B3699338D39}"/>
              </a:ext>
            </a:extLst>
          </p:cNvPr>
          <p:cNvSpPr>
            <a:spLocks noGrp="1"/>
          </p:cNvSpPr>
          <p:nvPr/>
        </p:nvSpPr>
        <p:spPr>
          <a:xfrm>
            <a:off x="3622766" y="2038350"/>
            <a:ext cx="2442753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>
              <a:buNone/>
              <a:defRPr sz="1200" b="1">
                <a:solidFill>
                  <a:srgbClr val="D92D20"/>
                </a:solidFill>
                <a:latin typeface="Yu Gothic"/>
                <a:ea typeface="Yu Gothic"/>
                <a:cs typeface="Yu Gothic"/>
              </a:defRPr>
            </a:pPr>
            <a:r>
              <a:rPr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RA／CS</a:t>
            </a:r>
            <a:r>
              <a:rPr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メール</a:t>
            </a:r>
            <a:r>
              <a:rPr sz="110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が混在</a:t>
            </a:r>
            <a:r>
              <a:rPr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している場合</a:t>
            </a:r>
            <a:endParaRPr sz="11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11" name="search-strip-text">
            <a:extLst>
              <a:ext uri="{FF2B5EF4-FFF2-40B4-BE49-F238E27FC236}">
                <a16:creationId xmlns:a16="http://schemas.microsoft.com/office/drawing/2014/main" id="{2047CC24-A36C-4CD7-A6A5-18AC89AA1506}"/>
              </a:ext>
            </a:extLst>
          </p:cNvPr>
          <p:cNvSpPr>
            <a:spLocks noGrp="1"/>
          </p:cNvSpPr>
          <p:nvPr/>
        </p:nvSpPr>
        <p:spPr>
          <a:xfrm>
            <a:off x="2332401" y="2212319"/>
            <a:ext cx="207889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dirty="0" err="1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CSからのメール内容を確認</a:t>
            </a:r>
            <a:endParaRPr sz="1200" dirty="0">
              <a:solidFill>
                <a:srgbClr val="5F6B7A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12" name="row-a">
            <a:extLst>
              <a:ext uri="{FF2B5EF4-FFF2-40B4-BE49-F238E27FC236}">
                <a16:creationId xmlns:a16="http://schemas.microsoft.com/office/drawing/2014/main" id="{E336E744-CDC1-4DE7-A5CE-8EDB9628F6BC}"/>
              </a:ext>
            </a:extLst>
          </p:cNvPr>
          <p:cNvSpPr>
            <a:spLocks noGrp="1"/>
          </p:cNvSpPr>
          <p:nvPr/>
        </p:nvSpPr>
        <p:spPr>
          <a:xfrm>
            <a:off x="723900" y="2970824"/>
            <a:ext cx="5295900" cy="400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a-chip">
            <a:extLst>
              <a:ext uri="{FF2B5EF4-FFF2-40B4-BE49-F238E27FC236}">
                <a16:creationId xmlns:a16="http://schemas.microsoft.com/office/drawing/2014/main" id="{7C13F0BA-0FA8-40F6-95DC-310644D6541F}"/>
              </a:ext>
            </a:extLst>
          </p:cNvPr>
          <p:cNvSpPr>
            <a:spLocks noGrp="1"/>
          </p:cNvSpPr>
          <p:nvPr/>
        </p:nvSpPr>
        <p:spPr>
          <a:xfrm>
            <a:off x="838200" y="3024607"/>
            <a:ext cx="266700" cy="266700"/>
          </a:xfrm>
          <a:prstGeom prst="ellipse">
            <a:avLst/>
          </a:prstGeom>
          <a:solidFill>
            <a:srgbClr val="1667D9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a-chip-text">
            <a:extLst>
              <a:ext uri="{FF2B5EF4-FFF2-40B4-BE49-F238E27FC236}">
                <a16:creationId xmlns:a16="http://schemas.microsoft.com/office/drawing/2014/main" id="{C7583F4F-512C-4AB6-BFD9-BF114C77FC9E}"/>
              </a:ext>
            </a:extLst>
          </p:cNvPr>
          <p:cNvSpPr>
            <a:spLocks noGrp="1"/>
          </p:cNvSpPr>
          <p:nvPr/>
        </p:nvSpPr>
        <p:spPr>
          <a:xfrm>
            <a:off x="838200" y="3037499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853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正</a:t>
            </a:r>
          </a:p>
        </p:txBody>
      </p:sp>
      <p:sp>
        <p:nvSpPr>
          <p:cNvPr id="15" name="row-a-text">
            <a:extLst>
              <a:ext uri="{FF2B5EF4-FFF2-40B4-BE49-F238E27FC236}">
                <a16:creationId xmlns:a16="http://schemas.microsoft.com/office/drawing/2014/main" id="{7D2CF3A1-629B-45EA-89D6-173015F87874}"/>
              </a:ext>
            </a:extLst>
          </p:cNvPr>
          <p:cNvSpPr>
            <a:spLocks noGrp="1"/>
          </p:cNvSpPr>
          <p:nvPr/>
        </p:nvSpPr>
        <p:spPr>
          <a:xfrm>
            <a:off x="1238250" y="2989874"/>
            <a:ext cx="1066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/>
          </a:bodyPr>
          <a:lstStyle/>
          <a:p>
            <a:pPr algn="l">
              <a:buNone/>
              <a:defRPr sz="12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RAのメール</a:t>
            </a:r>
          </a:p>
        </p:txBody>
      </p:sp>
      <p:sp>
        <p:nvSpPr>
          <p:cNvPr id="17" name="row-b">
            <a:extLst>
              <a:ext uri="{FF2B5EF4-FFF2-40B4-BE49-F238E27FC236}">
                <a16:creationId xmlns:a16="http://schemas.microsoft.com/office/drawing/2014/main" id="{5991322D-8C36-45A9-9220-B019AF453C3C}"/>
              </a:ext>
            </a:extLst>
          </p:cNvPr>
          <p:cNvSpPr>
            <a:spLocks noGrp="1"/>
          </p:cNvSpPr>
          <p:nvPr/>
        </p:nvSpPr>
        <p:spPr>
          <a:xfrm>
            <a:off x="723900" y="3437549"/>
            <a:ext cx="5295900" cy="400050"/>
          </a:xfrm>
          <a:prstGeom prst="rect">
            <a:avLst/>
          </a:prstGeom>
          <a:solidFill>
            <a:srgbClr val="FFF0EE"/>
          </a:solidFill>
          <a:ln w="19050">
            <a:solidFill>
              <a:srgbClr val="D92D20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b-chip">
            <a:extLst>
              <a:ext uri="{FF2B5EF4-FFF2-40B4-BE49-F238E27FC236}">
                <a16:creationId xmlns:a16="http://schemas.microsoft.com/office/drawing/2014/main" id="{F3E76824-31F6-4899-A64D-4D84E3CFC706}"/>
              </a:ext>
            </a:extLst>
          </p:cNvPr>
          <p:cNvSpPr>
            <a:spLocks noGrp="1"/>
          </p:cNvSpPr>
          <p:nvPr/>
        </p:nvSpPr>
        <p:spPr>
          <a:xfrm>
            <a:off x="838200" y="3491332"/>
            <a:ext cx="266700" cy="266700"/>
          </a:xfrm>
          <a:prstGeom prst="ellipse">
            <a:avLst/>
          </a:prstGeom>
          <a:solidFill>
            <a:srgbClr val="D92D20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b-chip-text">
            <a:extLst>
              <a:ext uri="{FF2B5EF4-FFF2-40B4-BE49-F238E27FC236}">
                <a16:creationId xmlns:a16="http://schemas.microsoft.com/office/drawing/2014/main" id="{97226993-4A51-4955-9C95-B9E0FEFC2586}"/>
              </a:ext>
            </a:extLst>
          </p:cNvPr>
          <p:cNvSpPr>
            <a:spLocks noGrp="1"/>
          </p:cNvSpPr>
          <p:nvPr/>
        </p:nvSpPr>
        <p:spPr>
          <a:xfrm>
            <a:off x="838200" y="3508414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272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誤</a:t>
            </a:r>
          </a:p>
        </p:txBody>
      </p:sp>
      <p:sp>
        <p:nvSpPr>
          <p:cNvPr id="20" name="row-b-text">
            <a:extLst>
              <a:ext uri="{FF2B5EF4-FFF2-40B4-BE49-F238E27FC236}">
                <a16:creationId xmlns:a16="http://schemas.microsoft.com/office/drawing/2014/main" id="{C162F119-D02D-4651-AA74-E55D3C70065E}"/>
              </a:ext>
            </a:extLst>
          </p:cNvPr>
          <p:cNvSpPr>
            <a:spLocks noGrp="1"/>
          </p:cNvSpPr>
          <p:nvPr/>
        </p:nvSpPr>
        <p:spPr>
          <a:xfrm>
            <a:off x="1238250" y="3456599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D92D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CSのメール</a:t>
            </a:r>
          </a:p>
        </p:txBody>
      </p:sp>
      <p:sp>
        <p:nvSpPr>
          <p:cNvPr id="23" name="filter-panel">
            <a:extLst>
              <a:ext uri="{FF2B5EF4-FFF2-40B4-BE49-F238E27FC236}">
                <a16:creationId xmlns:a16="http://schemas.microsoft.com/office/drawing/2014/main" id="{8891260D-3725-4049-AB63-174CA8A99CF5}"/>
              </a:ext>
            </a:extLst>
          </p:cNvPr>
          <p:cNvSpPr>
            <a:spLocks noGrp="1"/>
          </p:cNvSpPr>
          <p:nvPr/>
        </p:nvSpPr>
        <p:spPr>
          <a:xfrm>
            <a:off x="514350" y="4067175"/>
            <a:ext cx="5715000" cy="1657350"/>
          </a:xfrm>
          <a:prstGeom prst="rect">
            <a:avLst/>
          </a:prstGeom>
          <a:solidFill>
            <a:srgbClr val="EFF6FF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filter-title">
            <a:extLst>
              <a:ext uri="{FF2B5EF4-FFF2-40B4-BE49-F238E27FC236}">
                <a16:creationId xmlns:a16="http://schemas.microsoft.com/office/drawing/2014/main" id="{3634265E-A520-4E42-89A5-CCF81D249384}"/>
              </a:ext>
            </a:extLst>
          </p:cNvPr>
          <p:cNvSpPr>
            <a:spLocks noGrp="1"/>
          </p:cNvSpPr>
          <p:nvPr/>
        </p:nvSpPr>
        <p:spPr>
          <a:xfrm>
            <a:off x="723900" y="4162425"/>
            <a:ext cx="529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952" lnSpcReduction="10000"/>
          </a:bodyPr>
          <a:lstStyle/>
          <a:p>
            <a:pPr algn="l">
              <a:buNone/>
              <a:defRPr sz="1575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575" b="1" dirty="0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絶対に選択ミスをしないための</a:t>
            </a:r>
            <a:r>
              <a:rPr sz="1575" b="1" dirty="0" err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対策｜RA宛メールだけに絞り込む</a:t>
            </a:r>
            <a:endParaRPr sz="1575" b="1" dirty="0">
              <a:solidFill>
                <a:srgbClr val="1667D9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25" name="filter-note">
            <a:extLst>
              <a:ext uri="{FF2B5EF4-FFF2-40B4-BE49-F238E27FC236}">
                <a16:creationId xmlns:a16="http://schemas.microsoft.com/office/drawing/2014/main" id="{DC132762-09AA-411F-935F-BE3F44C2EB3D}"/>
              </a:ext>
            </a:extLst>
          </p:cNvPr>
          <p:cNvSpPr>
            <a:spLocks noGrp="1"/>
          </p:cNvSpPr>
          <p:nvPr/>
        </p:nvSpPr>
        <p:spPr>
          <a:xfrm>
            <a:off x="723900" y="44481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708" lnSpcReduction="20000"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送信者・受信者の両方にRAのドメインを入力</a:t>
            </a:r>
          </a:p>
        </p:txBody>
      </p:sp>
      <p:sp>
        <p:nvSpPr>
          <p:cNvPr id="27" name="sender-input">
            <a:extLst>
              <a:ext uri="{FF2B5EF4-FFF2-40B4-BE49-F238E27FC236}">
                <a16:creationId xmlns:a16="http://schemas.microsoft.com/office/drawing/2014/main" id="{9010B0B2-BDF2-421D-A046-68BC37874A77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5295900" cy="781050"/>
          </a:xfrm>
          <a:prstGeom prst="rect">
            <a:avLst/>
          </a:prstGeom>
          <a:noFill/>
          <a:ln w="14288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filter-result">
            <a:extLst>
              <a:ext uri="{FF2B5EF4-FFF2-40B4-BE49-F238E27FC236}">
                <a16:creationId xmlns:a16="http://schemas.microsoft.com/office/drawing/2014/main" id="{9FA92BF0-6EC1-4135-BBB0-13990C5BF22E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ここに検索欄のスクリーンショットを貼付</a:t>
            </a:r>
          </a:p>
        </p:txBody>
      </p:sp>
      <p:sp>
        <p:nvSpPr>
          <p:cNvPr id="35" name="flow-title">
            <a:extLst>
              <a:ext uri="{FF2B5EF4-FFF2-40B4-BE49-F238E27FC236}">
                <a16:creationId xmlns:a16="http://schemas.microsoft.com/office/drawing/2014/main" id="{F9E2C654-B3F5-4AC3-9287-5D41C15C684B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■</a:t>
            </a:r>
            <a:r>
              <a:rPr sz="1800" b="1" dirty="0" err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対策｜検索・選択のポイント</a:t>
            </a:r>
            <a:endParaRPr sz="1800" b="1" dirty="0">
              <a:solidFill>
                <a:srgbClr val="11182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cxnSp>
        <p:nvCxnSpPr>
          <p:cNvPr id="410" name="step-connector"/>
          <p:cNvCxnSpPr/>
          <p:nvPr/>
        </p:nvCxnSpPr>
        <p:spPr>
          <a:xfrm>
            <a:off x="6896100" y="2133600"/>
            <a:ext cx="0" cy="3124200"/>
          </a:xfrm>
          <a:prstGeom prst="straightConnector1">
            <a:avLst/>
          </a:prstGeom>
          <a:ln w="19050">
            <a:solidFill>
              <a:srgbClr val="C9D0D8"/>
            </a:solidFill>
            <a:prstDash val="solid"/>
          </a:ln>
        </p:spPr>
      </p:cxnSp>
      <p:sp>
        <p:nvSpPr>
          <p:cNvPr id="37" name="step-one-highlight">
            <a:extLst>
              <a:ext uri="{FF2B5EF4-FFF2-40B4-BE49-F238E27FC236}">
                <a16:creationId xmlns:a16="http://schemas.microsoft.com/office/drawing/2014/main" id="{A92179E5-FE2E-44FD-B95E-A6C96E9B9338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5086350" cy="81915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tep-1-circle">
            <a:extLst>
              <a:ext uri="{FF2B5EF4-FFF2-40B4-BE49-F238E27FC236}">
                <a16:creationId xmlns:a16="http://schemas.microsoft.com/office/drawing/2014/main" id="{2CB61160-D21A-4349-B223-BC8B599B5BFB}"/>
              </a:ext>
            </a:extLst>
          </p:cNvPr>
          <p:cNvSpPr>
            <a:spLocks noGrp="1"/>
          </p:cNvSpPr>
          <p:nvPr/>
        </p:nvSpPr>
        <p:spPr>
          <a:xfrm>
            <a:off x="6686550" y="2019300"/>
            <a:ext cx="419100" cy="419100"/>
          </a:xfrm>
          <a:prstGeom prst="ellipse">
            <a:avLst/>
          </a:prstGeom>
          <a:solidFill>
            <a:srgbClr val="1667D9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step-1-number">
            <a:extLst>
              <a:ext uri="{FF2B5EF4-FFF2-40B4-BE49-F238E27FC236}">
                <a16:creationId xmlns:a16="http://schemas.microsoft.com/office/drawing/2014/main" id="{6CC44CD1-A172-4696-AA75-414FC4B101A5}"/>
              </a:ext>
            </a:extLst>
          </p:cNvPr>
          <p:cNvSpPr>
            <a:spLocks noGrp="1"/>
          </p:cNvSpPr>
          <p:nvPr/>
        </p:nvSpPr>
        <p:spPr>
          <a:xfrm>
            <a:off x="6686550" y="2019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1</a:t>
            </a:r>
          </a:p>
        </p:txBody>
      </p:sp>
      <p:sp>
        <p:nvSpPr>
          <p:cNvPr id="40" name="step-1-title">
            <a:extLst>
              <a:ext uri="{FF2B5EF4-FFF2-40B4-BE49-F238E27FC236}">
                <a16:creationId xmlns:a16="http://schemas.microsoft.com/office/drawing/2014/main" id="{BF1E64D0-153C-4A7F-ACAE-70F7D26D4494}"/>
              </a:ext>
            </a:extLst>
          </p:cNvPr>
          <p:cNvSpPr>
            <a:spLocks noGrp="1"/>
          </p:cNvSpPr>
          <p:nvPr/>
        </p:nvSpPr>
        <p:spPr>
          <a:xfrm>
            <a:off x="7296150" y="20002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送信者に「@～」を入力</a:t>
            </a:r>
          </a:p>
        </p:txBody>
      </p:sp>
      <p:sp>
        <p:nvSpPr>
          <p:cNvPr id="41" name="step-1-body">
            <a:extLst>
              <a:ext uri="{FF2B5EF4-FFF2-40B4-BE49-F238E27FC236}">
                <a16:creationId xmlns:a16="http://schemas.microsoft.com/office/drawing/2014/main" id="{4B64A8DD-C8A6-4E90-9C77-EDBB74D38146}"/>
              </a:ext>
            </a:extLst>
          </p:cNvPr>
          <p:cNvSpPr>
            <a:spLocks noGrp="1"/>
          </p:cNvSpPr>
          <p:nvPr/>
        </p:nvSpPr>
        <p:spPr>
          <a:xfrm>
            <a:off x="7296150" y="230505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RAが使用する実ドメインを入力</a:t>
            </a:r>
          </a:p>
        </p:txBody>
      </p:sp>
      <p:sp>
        <p:nvSpPr>
          <p:cNvPr id="42" name="step-2-circle">
            <a:extLst>
              <a:ext uri="{FF2B5EF4-FFF2-40B4-BE49-F238E27FC236}">
                <a16:creationId xmlns:a16="http://schemas.microsoft.com/office/drawing/2014/main" id="{42DE0D8C-FBD2-4AF7-9A07-EE4376870FF1}"/>
              </a:ext>
            </a:extLst>
          </p:cNvPr>
          <p:cNvSpPr>
            <a:spLocks noGrp="1"/>
          </p:cNvSpPr>
          <p:nvPr/>
        </p:nvSpPr>
        <p:spPr>
          <a:xfrm>
            <a:off x="6686550" y="291465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tep-2-number">
            <a:extLst>
              <a:ext uri="{FF2B5EF4-FFF2-40B4-BE49-F238E27FC236}">
                <a16:creationId xmlns:a16="http://schemas.microsoft.com/office/drawing/2014/main" id="{C57932D8-1782-4668-B3B5-A0F3B64288A6}"/>
              </a:ext>
            </a:extLst>
          </p:cNvPr>
          <p:cNvSpPr>
            <a:spLocks noGrp="1"/>
          </p:cNvSpPr>
          <p:nvPr/>
        </p:nvSpPr>
        <p:spPr>
          <a:xfrm>
            <a:off x="6686550" y="29146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2</a:t>
            </a:r>
          </a:p>
        </p:txBody>
      </p:sp>
      <p:sp>
        <p:nvSpPr>
          <p:cNvPr id="44" name="step-2-title">
            <a:extLst>
              <a:ext uri="{FF2B5EF4-FFF2-40B4-BE49-F238E27FC236}">
                <a16:creationId xmlns:a16="http://schemas.microsoft.com/office/drawing/2014/main" id="{5D4CE018-AD68-4A13-A4AB-65D2028BBF1C}"/>
              </a:ext>
            </a:extLst>
          </p:cNvPr>
          <p:cNvSpPr>
            <a:spLocks noGrp="1"/>
          </p:cNvSpPr>
          <p:nvPr/>
        </p:nvSpPr>
        <p:spPr>
          <a:xfrm>
            <a:off x="7296150" y="289560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受信者にも「@～」を入力</a:t>
            </a:r>
          </a:p>
        </p:txBody>
      </p:sp>
      <p:sp>
        <p:nvSpPr>
          <p:cNvPr id="45" name="step-2-body">
            <a:extLst>
              <a:ext uri="{FF2B5EF4-FFF2-40B4-BE49-F238E27FC236}">
                <a16:creationId xmlns:a16="http://schemas.microsoft.com/office/drawing/2014/main" id="{EEB059CA-B12D-4B0F-97BF-ACBD45472857}"/>
              </a:ext>
            </a:extLst>
          </p:cNvPr>
          <p:cNvSpPr>
            <a:spLocks noGrp="1"/>
          </p:cNvSpPr>
          <p:nvPr/>
        </p:nvSpPr>
        <p:spPr>
          <a:xfrm>
            <a:off x="7296150" y="320040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送信者と同じRAのドメインを入力</a:t>
            </a:r>
          </a:p>
        </p:txBody>
      </p:sp>
      <p:sp>
        <p:nvSpPr>
          <p:cNvPr id="46" name="step-3-circle">
            <a:extLst>
              <a:ext uri="{FF2B5EF4-FFF2-40B4-BE49-F238E27FC236}">
                <a16:creationId xmlns:a16="http://schemas.microsoft.com/office/drawing/2014/main" id="{151256C2-9323-4FD2-BD38-5167A17CC4C5}"/>
              </a:ext>
            </a:extLst>
          </p:cNvPr>
          <p:cNvSpPr>
            <a:spLocks noGrp="1"/>
          </p:cNvSpPr>
          <p:nvPr/>
        </p:nvSpPr>
        <p:spPr>
          <a:xfrm>
            <a:off x="6686550" y="38100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step-3-number">
            <a:extLst>
              <a:ext uri="{FF2B5EF4-FFF2-40B4-BE49-F238E27FC236}">
                <a16:creationId xmlns:a16="http://schemas.microsoft.com/office/drawing/2014/main" id="{4BCED38E-8FE4-48DB-8DCD-F6A5B474B544}"/>
              </a:ext>
            </a:extLst>
          </p:cNvPr>
          <p:cNvSpPr>
            <a:spLocks noGrp="1"/>
          </p:cNvSpPr>
          <p:nvPr/>
        </p:nvSpPr>
        <p:spPr>
          <a:xfrm>
            <a:off x="6686550" y="38100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3</a:t>
            </a:r>
          </a:p>
        </p:txBody>
      </p:sp>
      <p:sp>
        <p:nvSpPr>
          <p:cNvPr id="48" name="step-3-title">
            <a:extLst>
              <a:ext uri="{FF2B5EF4-FFF2-40B4-BE49-F238E27FC236}">
                <a16:creationId xmlns:a16="http://schemas.microsoft.com/office/drawing/2014/main" id="{AE916B8D-4377-4DC4-8965-EA1808A4D24C}"/>
              </a:ext>
            </a:extLst>
          </p:cNvPr>
          <p:cNvSpPr>
            <a:spLocks noGrp="1"/>
          </p:cNvSpPr>
          <p:nvPr/>
        </p:nvSpPr>
        <p:spPr>
          <a:xfrm>
            <a:off x="7296150" y="37909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検索結果を確認</a:t>
            </a:r>
          </a:p>
        </p:txBody>
      </p:sp>
      <p:sp>
        <p:nvSpPr>
          <p:cNvPr id="49" name="step-3-body">
            <a:extLst>
              <a:ext uri="{FF2B5EF4-FFF2-40B4-BE49-F238E27FC236}">
                <a16:creationId xmlns:a16="http://schemas.microsoft.com/office/drawing/2014/main" id="{140FD274-268F-4BAF-A733-4ECB3192EB49}"/>
              </a:ext>
            </a:extLst>
          </p:cNvPr>
          <p:cNvSpPr>
            <a:spLocks noGrp="1"/>
          </p:cNvSpPr>
          <p:nvPr/>
        </p:nvSpPr>
        <p:spPr>
          <a:xfrm>
            <a:off x="7296150" y="409575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RA宛またはRAからのメールだけ表示</a:t>
            </a:r>
          </a:p>
        </p:txBody>
      </p:sp>
      <p:sp>
        <p:nvSpPr>
          <p:cNvPr id="50" name="step-4-circle">
            <a:extLst>
              <a:ext uri="{FF2B5EF4-FFF2-40B4-BE49-F238E27FC236}">
                <a16:creationId xmlns:a16="http://schemas.microsoft.com/office/drawing/2014/main" id="{1518CF6D-1DD3-440B-B999-ECD3AF3DA976}"/>
              </a:ext>
            </a:extLst>
          </p:cNvPr>
          <p:cNvSpPr>
            <a:spLocks noGrp="1"/>
          </p:cNvSpPr>
          <p:nvPr/>
        </p:nvSpPr>
        <p:spPr>
          <a:xfrm>
            <a:off x="6686550" y="470535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7D9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tep-4-number">
            <a:extLst>
              <a:ext uri="{FF2B5EF4-FFF2-40B4-BE49-F238E27FC236}">
                <a16:creationId xmlns:a16="http://schemas.microsoft.com/office/drawing/2014/main" id="{84642F75-CEF0-4D9A-844E-86A2CB02B766}"/>
              </a:ext>
            </a:extLst>
          </p:cNvPr>
          <p:cNvSpPr>
            <a:spLocks noGrp="1"/>
          </p:cNvSpPr>
          <p:nvPr/>
        </p:nvSpPr>
        <p:spPr>
          <a:xfrm>
            <a:off x="6686550" y="4705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1667D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667D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4</a:t>
            </a:r>
          </a:p>
        </p:txBody>
      </p:sp>
      <p:sp>
        <p:nvSpPr>
          <p:cNvPr id="52" name="step-4-title">
            <a:extLst>
              <a:ext uri="{FF2B5EF4-FFF2-40B4-BE49-F238E27FC236}">
                <a16:creationId xmlns:a16="http://schemas.microsoft.com/office/drawing/2014/main" id="{AEF6B708-5513-42A5-B561-AFF18923CE55}"/>
              </a:ext>
            </a:extLst>
          </p:cNvPr>
          <p:cNvSpPr>
            <a:spLocks noGrp="1"/>
          </p:cNvSpPr>
          <p:nvPr/>
        </p:nvSpPr>
        <p:spPr>
          <a:xfrm>
            <a:off x="7296150" y="468630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 lnSpcReduction="20000"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RA宛メールを選択</a:t>
            </a:r>
          </a:p>
        </p:txBody>
      </p:sp>
      <p:sp>
        <p:nvSpPr>
          <p:cNvPr id="53" name="step-4-body">
            <a:extLst>
              <a:ext uri="{FF2B5EF4-FFF2-40B4-BE49-F238E27FC236}">
                <a16:creationId xmlns:a16="http://schemas.microsoft.com/office/drawing/2014/main" id="{12D508F0-7FF3-4DD7-98D0-976C46CD767D}"/>
              </a:ext>
            </a:extLst>
          </p:cNvPr>
          <p:cNvSpPr>
            <a:spLocks noGrp="1"/>
          </p:cNvSpPr>
          <p:nvPr/>
        </p:nvSpPr>
        <p:spPr>
          <a:xfrm>
            <a:off x="7296150" y="4991100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00" b="0">
                <a:solidFill>
                  <a:srgbClr val="5F6B7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F6B7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管理画面でもRA宛メールか確認</a:t>
            </a:r>
          </a:p>
        </p:txBody>
      </p:sp>
      <p:sp>
        <p:nvSpPr>
          <p:cNvPr id="54" name="bottom-banner">
            <a:extLst>
              <a:ext uri="{FF2B5EF4-FFF2-40B4-BE49-F238E27FC236}">
                <a16:creationId xmlns:a16="http://schemas.microsoft.com/office/drawing/2014/main" id="{91F09FEA-62EC-4AE0-B655-59C0F1ABE635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1163300" cy="685800"/>
          </a:xfrm>
          <a:prstGeom prst="rect">
            <a:avLst/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banner-key">
            <a:extLst>
              <a:ext uri="{FF2B5EF4-FFF2-40B4-BE49-F238E27FC236}">
                <a16:creationId xmlns:a16="http://schemas.microsoft.com/office/drawing/2014/main" id="{BB023A75-809D-42D5-A2BC-2D69C4E830EC}"/>
              </a:ext>
            </a:extLst>
          </p:cNvPr>
          <p:cNvSpPr>
            <a:spLocks noGrp="1"/>
          </p:cNvSpPr>
          <p:nvPr/>
        </p:nvSpPr>
        <p:spPr>
          <a:xfrm>
            <a:off x="781050" y="6036399"/>
            <a:ext cx="31432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追加対策</a:t>
            </a:r>
            <a:endParaRPr sz="195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56" name="banner-divider">
            <a:extLst>
              <a:ext uri="{FF2B5EF4-FFF2-40B4-BE49-F238E27FC236}">
                <a16:creationId xmlns:a16="http://schemas.microsoft.com/office/drawing/2014/main" id="{C5E6BB9B-9675-4E8C-982E-9072045D84AF}"/>
              </a:ext>
            </a:extLst>
          </p:cNvPr>
          <p:cNvSpPr>
            <a:spLocks noGrp="1"/>
          </p:cNvSpPr>
          <p:nvPr/>
        </p:nvSpPr>
        <p:spPr>
          <a:xfrm>
            <a:off x="4095750" y="6057900"/>
            <a:ext cx="19050" cy="381000"/>
          </a:xfrm>
          <a:prstGeom prst="rect">
            <a:avLst/>
          </a:prstGeom>
          <a:solidFill>
            <a:srgbClr val="FF0000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banner-rule">
            <a:extLst>
              <a:ext uri="{FF2B5EF4-FFF2-40B4-BE49-F238E27FC236}">
                <a16:creationId xmlns:a16="http://schemas.microsoft.com/office/drawing/2014/main" id="{449A509B-6D1D-4083-9AC6-1BEABC4BA7D2}"/>
              </a:ext>
            </a:extLst>
          </p:cNvPr>
          <p:cNvSpPr>
            <a:spLocks noGrp="1"/>
          </p:cNvSpPr>
          <p:nvPr/>
        </p:nvSpPr>
        <p:spPr>
          <a:xfrm>
            <a:off x="4324350" y="6057900"/>
            <a:ext cx="695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送信者・受信者の両方に、同じRAドメインを入力</a:t>
            </a:r>
            <a:endParaRPr sz="1425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Yu Gothic"/>
            </a:endParaRPr>
          </a:p>
        </p:txBody>
      </p:sp>
      <p:sp>
        <p:nvSpPr>
          <p:cNvPr id="28" name="row-b">
            <a:extLst>
              <a:ext uri="{FF2B5EF4-FFF2-40B4-BE49-F238E27FC236}">
                <a16:creationId xmlns:a16="http://schemas.microsoft.com/office/drawing/2014/main" id="{9EBC29CA-1F5E-A0F3-A57B-134CA9145970}"/>
              </a:ext>
            </a:extLst>
          </p:cNvPr>
          <p:cNvSpPr>
            <a:spLocks noGrp="1"/>
          </p:cNvSpPr>
          <p:nvPr/>
        </p:nvSpPr>
        <p:spPr>
          <a:xfrm>
            <a:off x="723900" y="2506473"/>
            <a:ext cx="5295900" cy="400050"/>
          </a:xfrm>
          <a:prstGeom prst="rect">
            <a:avLst/>
          </a:prstGeom>
          <a:solidFill>
            <a:srgbClr val="FFF0EE"/>
          </a:solidFill>
          <a:ln w="19050">
            <a:solidFill>
              <a:srgbClr val="D92D20"/>
            </a:solidFill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b-chip">
            <a:extLst>
              <a:ext uri="{FF2B5EF4-FFF2-40B4-BE49-F238E27FC236}">
                <a16:creationId xmlns:a16="http://schemas.microsoft.com/office/drawing/2014/main" id="{8858A094-0381-893B-BC5F-09FE9A39FA88}"/>
              </a:ext>
            </a:extLst>
          </p:cNvPr>
          <p:cNvSpPr>
            <a:spLocks noGrp="1"/>
          </p:cNvSpPr>
          <p:nvPr/>
        </p:nvSpPr>
        <p:spPr>
          <a:xfrm>
            <a:off x="838200" y="2555902"/>
            <a:ext cx="266700" cy="266700"/>
          </a:xfrm>
          <a:prstGeom prst="ellipse">
            <a:avLst/>
          </a:prstGeom>
          <a:solidFill>
            <a:srgbClr val="D92D20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row-b-text">
            <a:extLst>
              <a:ext uri="{FF2B5EF4-FFF2-40B4-BE49-F238E27FC236}">
                <a16:creationId xmlns:a16="http://schemas.microsoft.com/office/drawing/2014/main" id="{D640EB40-A170-C9F4-BBDA-6ADD4C372C51}"/>
              </a:ext>
            </a:extLst>
          </p:cNvPr>
          <p:cNvSpPr>
            <a:spLocks noGrp="1"/>
          </p:cNvSpPr>
          <p:nvPr/>
        </p:nvSpPr>
        <p:spPr>
          <a:xfrm>
            <a:off x="1238250" y="2525523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D92D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92D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CSのメール</a:t>
            </a:r>
          </a:p>
        </p:txBody>
      </p:sp>
      <p:sp>
        <p:nvSpPr>
          <p:cNvPr id="36" name="b-chip-text">
            <a:extLst>
              <a:ext uri="{FF2B5EF4-FFF2-40B4-BE49-F238E27FC236}">
                <a16:creationId xmlns:a16="http://schemas.microsoft.com/office/drawing/2014/main" id="{F98DAB1C-456D-8732-8600-473F21CF99A7}"/>
              </a:ext>
            </a:extLst>
          </p:cNvPr>
          <p:cNvSpPr>
            <a:spLocks noGrp="1"/>
          </p:cNvSpPr>
          <p:nvPr/>
        </p:nvSpPr>
        <p:spPr>
          <a:xfrm>
            <a:off x="839615" y="2570262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272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Yu Gothic"/>
              </a:rPr>
              <a:t>誤</a:t>
            </a:r>
          </a:p>
        </p:txBody>
      </p:sp>
    </p:spTree>
    <p:extLst>
      <p:ext uri="{BB962C8B-B14F-4D97-AF65-F5344CB8AC3E}">
        <p14:creationId xmlns:p14="http://schemas.microsoft.com/office/powerpoint/2010/main" val="6708057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211</Words>
  <Application>Microsoft Office PowerPoint</Application>
  <DocSecurity>0</DocSecurity>
  <PresentationFormat>ワイド画面</PresentationFormat>
  <Paragraphs>66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メイリオ</vt:lpstr>
      <vt:lpstr>Calibri</vt:lpstr>
      <vt:lpstr>ChatGPT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誠 田口</cp:lastModifiedBy>
  <cp:revision>3</cp:revision>
  <dcterms:created xsi:type="dcterms:W3CDTF">2026-08-26T13:18:29Z</dcterms:created>
  <dcterms:modified xsi:type="dcterms:W3CDTF">2026-08-26T13:41:55Z</dcterms:modified>
</cp:coreProperties>
</file>